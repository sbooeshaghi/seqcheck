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144000" cx="5486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172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17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63ade056c_0_115:notes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963ade056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63ade056c_0_4:notes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63ade056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illumina_p5:29'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├─'truseq_read1:33'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├─'barcode:16'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├─'umi:10'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├─'bead_TSO:13'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───────────────────────── ──crispr──────────────────┤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├─'sgrna_target:20'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├─'sgrna_scaffold:63'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├─'truseq_read2:34'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├─'index7:10'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└─'crispr_illumina_p7:24'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63ade056c_0_50:notes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63ade056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3ade056c_0_69:notes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63ade056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63ade056c_0_93:notes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63ade056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63ade056c_0_104:notes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63ade056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63ade056c_0_120:notes"/>
          <p:cNvSpPr/>
          <p:nvPr>
            <p:ph idx="2" type="sldImg"/>
          </p:nvPr>
        </p:nvSpPr>
        <p:spPr>
          <a:xfrm>
            <a:off x="2400625" y="685800"/>
            <a:ext cx="2057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63ade056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7025" y="1323689"/>
            <a:ext cx="51123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7020" y="5038444"/>
            <a:ext cx="51123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7020" y="3823733"/>
            <a:ext cx="51123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7020" y="791156"/>
            <a:ext cx="5112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7020" y="2048844"/>
            <a:ext cx="5112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7020" y="791156"/>
            <a:ext cx="5112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7020" y="2048844"/>
            <a:ext cx="24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99440" y="2048844"/>
            <a:ext cx="24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7020" y="791156"/>
            <a:ext cx="5112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7020" y="987733"/>
            <a:ext cx="16848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7020" y="2470400"/>
            <a:ext cx="16848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4150" y="800267"/>
            <a:ext cx="38208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43200" y="-222"/>
            <a:ext cx="27432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9300" y="2192311"/>
            <a:ext cx="24270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9300" y="4983244"/>
            <a:ext cx="24270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63700" y="1287244"/>
            <a:ext cx="23022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7020" y="7521022"/>
            <a:ext cx="35994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7020" y="1966444"/>
            <a:ext cx="51123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7020" y="5603956"/>
            <a:ext cx="51123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7020" y="791156"/>
            <a:ext cx="51123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7020" y="2048844"/>
            <a:ext cx="51123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83475" y="8290163"/>
            <a:ext cx="3291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vuzAgZZUG24B503CDFHRznaskPCXui6W/view?usp=drive_link" TargetMode="External"/><Relationship Id="rId4" Type="http://schemas.openxmlformats.org/officeDocument/2006/relationships/hyperlink" Target="https://github.com/IGVF-DACC/seqspec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2HgP8cgHUpwvoEDbKusmsqtRyXqZWTop/view?usp=sharing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87050" y="162564"/>
            <a:ext cx="51123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33"/>
              <a:t>Example of SeqSpec</a:t>
            </a:r>
            <a:endParaRPr sz="453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33"/>
              <a:t>triggering </a:t>
            </a:r>
            <a:r>
              <a:rPr lang="en" sz="4533"/>
              <a:t>errors</a:t>
            </a:r>
            <a:r>
              <a:rPr lang="en" sz="4533"/>
              <a:t> in the CRISPR-pipeline</a:t>
            </a:r>
            <a:r>
              <a:rPr lang="en"/>
              <a:t>  </a:t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527850" y="4426875"/>
            <a:ext cx="4771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*OBS: </a:t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problem captured in this example  is an indication that the representation that you defined probably is not corrected, besides being validated by seqspec check).</a:t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solution here works for this case but needs to be validated base by case.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354650" y="6550875"/>
            <a:ext cx="51897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example demonstrated  here comes from : </a:t>
            </a:r>
            <a:r>
              <a:rPr b="1" lang="en" sz="1650">
                <a:solidFill>
                  <a:srgbClr val="1D1C1D"/>
                </a:solidFill>
                <a:highlight>
                  <a:srgbClr val="FFFFFF"/>
                </a:highlight>
              </a:rPr>
              <a:t>IGVFDS0137RSXB </a:t>
            </a:r>
            <a:r>
              <a:rPr lang="en" sz="1650">
                <a:solidFill>
                  <a:srgbClr val="1D1C1D"/>
                </a:solidFill>
                <a:highlight>
                  <a:srgbClr val="FFFFFF"/>
                </a:highlight>
              </a:rPr>
              <a:t>and besides being the illustrative example used, this problem is found in almost all seqspec used to test the CRISPR-pipeline until the moment.</a:t>
            </a:r>
            <a:endParaRPr sz="1650">
              <a:solidFill>
                <a:srgbClr val="1D1C1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33525" y="604700"/>
            <a:ext cx="50253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Main features (Barcode/UMI/feature) that should be encoded inside a</a:t>
            </a:r>
            <a:r>
              <a:rPr b="1" lang="en">
                <a:solidFill>
                  <a:schemeClr val="dk2"/>
                </a:solidFill>
              </a:rPr>
              <a:t> seqspec </a:t>
            </a:r>
            <a:r>
              <a:rPr lang="en">
                <a:solidFill>
                  <a:schemeClr val="dk2"/>
                </a:solidFill>
              </a:rPr>
              <a:t>file for a guide file.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4D79"/>
                </a:solidFill>
              </a:rPr>
              <a:t>Example of a real read pair</a:t>
            </a:r>
            <a:endParaRPr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Read 1 </a:t>
            </a:r>
            <a:r>
              <a:rPr b="1" lang="en" sz="1500">
                <a:solidFill>
                  <a:srgbClr val="FF0000"/>
                </a:solidFill>
              </a:rPr>
              <a:t>CB(16) (pos 0-16)</a:t>
            </a:r>
            <a:r>
              <a:rPr b="1" lang="en" sz="1500">
                <a:solidFill>
                  <a:schemeClr val="dk2"/>
                </a:solidFill>
              </a:rPr>
              <a:t>   </a:t>
            </a:r>
            <a:r>
              <a:rPr b="1" lang="en" sz="1500">
                <a:solidFill>
                  <a:srgbClr val="0000FF"/>
                </a:solidFill>
              </a:rPr>
              <a:t>UMI(10) (pos 16-26)</a:t>
            </a:r>
            <a:r>
              <a:rPr b="1" lang="en" sz="1500">
                <a:solidFill>
                  <a:schemeClr val="dk2"/>
                </a:solidFill>
              </a:rPr>
              <a:t> </a:t>
            </a:r>
            <a:r>
              <a:rPr b="1" lang="en" sz="900">
                <a:solidFill>
                  <a:srgbClr val="FF0000"/>
                </a:solidFill>
              </a:rPr>
              <a:t>ACCAGTAGTATCTGCA</a:t>
            </a:r>
            <a:r>
              <a:rPr b="1" lang="en" sz="900">
                <a:solidFill>
                  <a:srgbClr val="0000FF"/>
                </a:solidFill>
              </a:rPr>
              <a:t>GAGTAACGGA</a:t>
            </a:r>
            <a:r>
              <a:rPr lang="en" sz="900">
                <a:solidFill>
                  <a:schemeClr val="dk2"/>
                </a:solidFill>
              </a:rPr>
              <a:t>TCTCCTATATATCGCTTTCTTCAGCTCCGAGGGGTTTAAGAGCTAAGCTGGAAACAGCATAGCAAGTTTAAATAAGGCTAGTCCGTTATCAACTTGAGATCGGAAGAGCACACGTCTGAACTCCA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Read 2   </a:t>
            </a:r>
            <a:r>
              <a:rPr b="1" lang="en" sz="1600">
                <a:solidFill>
                  <a:srgbClr val="9900FF"/>
                </a:solidFill>
              </a:rPr>
              <a:t>Feature (Guide)(20)(pos 63-83)</a:t>
            </a:r>
            <a:endParaRPr b="1" sz="16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CCCGCTGATCACAAACTAGCCCTCCCTACACCTGCTACGCTGTTTCCCGCTTAGCTCCTAAAC</a:t>
            </a:r>
            <a:r>
              <a:rPr b="1" lang="en" sz="1000">
                <a:solidFill>
                  <a:srgbClr val="9900FF"/>
                </a:solidFill>
              </a:rPr>
              <a:t>TATCACCTCATCTCCCGAAC</a:t>
            </a:r>
            <a:r>
              <a:rPr lang="en" sz="1000">
                <a:solidFill>
                  <a:schemeClr val="dk2"/>
                </a:solidFill>
              </a:rPr>
              <a:t>CCCATATAAGAAATTCACTACCCGGCGATAGAACTGATAAGATCGGAAGAGCGTCGTGTAGGGAAAGA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27575" y="2656175"/>
            <a:ext cx="5025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As a example we will use a very </a:t>
            </a:r>
            <a:r>
              <a:rPr lang="en" sz="1200">
                <a:solidFill>
                  <a:schemeClr val="dk2"/>
                </a:solidFill>
              </a:rPr>
              <a:t>detailed</a:t>
            </a:r>
            <a:r>
              <a:rPr lang="en" sz="1200">
                <a:solidFill>
                  <a:schemeClr val="dk2"/>
                </a:solidFill>
              </a:rPr>
              <a:t> seqspec  (</a:t>
            </a:r>
            <a:r>
              <a:rPr lang="en" sz="1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lang="en" sz="1200">
                <a:solidFill>
                  <a:schemeClr val="dk2"/>
                </a:solidFill>
              </a:rPr>
              <a:t>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created to </a:t>
            </a:r>
            <a:r>
              <a:rPr lang="en" sz="1200">
                <a:solidFill>
                  <a:schemeClr val="dk2"/>
                </a:solidFill>
              </a:rPr>
              <a:t>specify this experimental set  (</a:t>
            </a:r>
            <a:r>
              <a:rPr b="1" lang="en" sz="950">
                <a:solidFill>
                  <a:srgbClr val="1D1C1D"/>
                </a:solidFill>
                <a:highlight>
                  <a:srgbClr val="FFFFFF"/>
                </a:highlight>
              </a:rPr>
              <a:t>IGVFDS0137RSXB</a:t>
            </a:r>
            <a:r>
              <a:rPr lang="en" sz="1200">
                <a:solidFill>
                  <a:schemeClr val="dk2"/>
                </a:solidFill>
              </a:rPr>
              <a:t>). T</a:t>
            </a:r>
            <a:r>
              <a:rPr lang="en" sz="1200">
                <a:solidFill>
                  <a:schemeClr val="dk2"/>
                </a:solidFill>
              </a:rPr>
              <a:t>he following seqspec  also contain other elements originally used to generate the guide reads and not just the cb/umi/feature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89625" y="3463800"/>
            <a:ext cx="5025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Note: This seqspec was already validated by the portal when using the command </a:t>
            </a:r>
            <a:r>
              <a:rPr b="1" i="1" lang="en" sz="1200">
                <a:solidFill>
                  <a:schemeClr val="dk2"/>
                </a:solidFill>
              </a:rPr>
              <a:t>seqspec check</a:t>
            </a:r>
            <a:r>
              <a:rPr lang="en" sz="1200">
                <a:solidFill>
                  <a:schemeClr val="dk2"/>
                </a:solidFill>
              </a:rPr>
              <a:t> in the seqspec IGVF branch </a:t>
            </a:r>
            <a:r>
              <a:rPr lang="en" sz="1200">
                <a:solidFill>
                  <a:schemeClr val="dk2"/>
                </a:solidFill>
              </a:rPr>
              <a:t>containing</a:t>
            </a:r>
            <a:r>
              <a:rPr lang="en" sz="1200">
                <a:solidFill>
                  <a:schemeClr val="dk2"/>
                </a:solidFill>
              </a:rPr>
              <a:t> the 3.0 seqspec version with a few modifications (see :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https://github.com/IGVF-DACC/seqspec</a:t>
            </a:r>
            <a:r>
              <a:rPr lang="en" sz="1200">
                <a:solidFill>
                  <a:schemeClr val="dk2"/>
                </a:solidFill>
              </a:rPr>
              <a:t>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605350"/>
            <a:ext cx="5181602" cy="137705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14550" y="4232225"/>
            <a:ext cx="493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Using the </a:t>
            </a:r>
            <a:r>
              <a:rPr b="1" i="1" lang="en" sz="1500">
                <a:solidFill>
                  <a:schemeClr val="dk2"/>
                </a:solidFill>
              </a:rPr>
              <a:t>seqspec print</a:t>
            </a:r>
            <a:r>
              <a:rPr i="1"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chemeClr val="dk2"/>
                </a:solidFill>
              </a:rPr>
              <a:t>command we can see all the elements of this seqspec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83900" y="6061225"/>
            <a:ext cx="5261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When checking the seqspec file we can see that our </a:t>
            </a:r>
            <a:r>
              <a:rPr b="1" lang="en">
                <a:solidFill>
                  <a:schemeClr val="dk2"/>
                </a:solidFill>
              </a:rPr>
              <a:t>Read 1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length</a:t>
            </a:r>
            <a:r>
              <a:rPr lang="en">
                <a:solidFill>
                  <a:schemeClr val="dk2"/>
                </a:solidFill>
              </a:rPr>
              <a:t> is defined as </a:t>
            </a:r>
            <a:r>
              <a:rPr b="1" lang="en">
                <a:solidFill>
                  <a:schemeClr val="dk2"/>
                </a:solidFill>
              </a:rPr>
              <a:t>26bp (read 2 has 88-150bp)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325" y="6742346"/>
            <a:ext cx="4731648" cy="190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 flipH="1">
            <a:off x="1103800" y="7357250"/>
            <a:ext cx="781500" cy="5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5"/>
          <p:cNvSpPr txBox="1"/>
          <p:nvPr/>
        </p:nvSpPr>
        <p:spPr>
          <a:xfrm>
            <a:off x="2023250" y="7153600"/>
            <a:ext cx="347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0" y="0"/>
            <a:ext cx="5025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1D1C1D"/>
                </a:solidFill>
                <a:highlight>
                  <a:srgbClr val="FFFFFF"/>
                </a:highlight>
              </a:rPr>
              <a:t>IGVFDS0137RSXB (single cell 10xv2 guide ) 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4700" y="290625"/>
            <a:ext cx="529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Let's</a:t>
            </a:r>
            <a:r>
              <a:rPr lang="en" sz="1300">
                <a:solidFill>
                  <a:schemeClr val="dk2"/>
                </a:solidFill>
              </a:rPr>
              <a:t> start inspect a read and highlighting the desired elements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101725" y="229925"/>
            <a:ext cx="50253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Problem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000" y="953000"/>
            <a:ext cx="5181602" cy="13770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16"/>
          <p:cNvCxnSpPr/>
          <p:nvPr/>
        </p:nvCxnSpPr>
        <p:spPr>
          <a:xfrm flipH="1">
            <a:off x="4493325" y="900125"/>
            <a:ext cx="729000" cy="1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6"/>
          <p:cNvCxnSpPr/>
          <p:nvPr/>
        </p:nvCxnSpPr>
        <p:spPr>
          <a:xfrm flipH="1">
            <a:off x="4565600" y="1070700"/>
            <a:ext cx="729000" cy="1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6"/>
          <p:cNvSpPr txBox="1"/>
          <p:nvPr/>
        </p:nvSpPr>
        <p:spPr>
          <a:xfrm>
            <a:off x="40725" y="670025"/>
            <a:ext cx="3783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Inserting </a:t>
            </a:r>
            <a:r>
              <a:rPr b="1" lang="en" sz="1300">
                <a:solidFill>
                  <a:schemeClr val="dk2"/>
                </a:solidFill>
              </a:rPr>
              <a:t>other elements</a:t>
            </a:r>
            <a:r>
              <a:rPr lang="en" sz="1300">
                <a:solidFill>
                  <a:schemeClr val="dk2"/>
                </a:solidFill>
              </a:rPr>
              <a:t> in the beginning of the reads, while they are not represented in the observed read causes some representation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errors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52400" y="2311775"/>
            <a:ext cx="54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What seqspec is really expecting: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	Expecting read1 being 26 longer. This is important because  it will </a:t>
            </a:r>
            <a:r>
              <a:rPr lang="en">
                <a:solidFill>
                  <a:schemeClr val="dk2"/>
                </a:solidFill>
              </a:rPr>
              <a:t>accommodate</a:t>
            </a:r>
            <a:r>
              <a:rPr lang="en">
                <a:solidFill>
                  <a:schemeClr val="dk2"/>
                </a:solidFill>
              </a:rPr>
              <a:t> only up to 26 longer elements by appending small elements (in our case cb and umi).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834250" y="3512925"/>
            <a:ext cx="19443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26bp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216775" y="3925350"/>
            <a:ext cx="479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seqspec </a:t>
            </a:r>
            <a:r>
              <a:rPr b="1" lang="en" sz="1800">
                <a:solidFill>
                  <a:srgbClr val="FF0000"/>
                </a:solidFill>
              </a:rPr>
              <a:t>sees</a:t>
            </a:r>
            <a:r>
              <a:rPr lang="en" sz="1800">
                <a:solidFill>
                  <a:schemeClr val="dk2"/>
                </a:solidFill>
              </a:rPr>
              <a:t> in this seqspec: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52400" y="5125700"/>
            <a:ext cx="14373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truseq_read1:33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2272975" y="5125700"/>
            <a:ext cx="7290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umi:10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045125" y="5125700"/>
            <a:ext cx="9081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TS0: 13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996375" y="5125700"/>
            <a:ext cx="20679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 ELEMENTS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152400" y="4664250"/>
            <a:ext cx="11154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26bp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1353200" y="4594350"/>
            <a:ext cx="37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R1 Len expected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24825" y="5517250"/>
            <a:ext cx="5025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1) The first elements (trueseq_read1) don’t </a:t>
            </a:r>
            <a:r>
              <a:rPr lang="en">
                <a:solidFill>
                  <a:schemeClr val="dk2"/>
                </a:solidFill>
              </a:rPr>
              <a:t>even</a:t>
            </a:r>
            <a:r>
              <a:rPr lang="en">
                <a:solidFill>
                  <a:schemeClr val="dk2"/>
                </a:solidFill>
              </a:rPr>
              <a:t> fit the expected 26 bp read len and can’t be </a:t>
            </a:r>
            <a:r>
              <a:rPr lang="en">
                <a:solidFill>
                  <a:schemeClr val="dk2"/>
                </a:solidFill>
              </a:rPr>
              <a:t>accommodate</a:t>
            </a:r>
            <a:r>
              <a:rPr lang="en">
                <a:solidFill>
                  <a:schemeClr val="dk2"/>
                </a:solidFill>
              </a:rPr>
              <a:t> here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2) The disconnection between the </a:t>
            </a:r>
            <a:r>
              <a:rPr lang="en">
                <a:solidFill>
                  <a:schemeClr val="dk2"/>
                </a:solidFill>
              </a:rPr>
              <a:t>lengths</a:t>
            </a:r>
            <a:r>
              <a:rPr lang="en">
                <a:solidFill>
                  <a:schemeClr val="dk2"/>
                </a:solidFill>
              </a:rPr>
              <a:t> of the elements being appended and the read </a:t>
            </a:r>
            <a:r>
              <a:rPr lang="en">
                <a:solidFill>
                  <a:schemeClr val="dk2"/>
                </a:solidFill>
              </a:rPr>
              <a:t>length</a:t>
            </a:r>
            <a:r>
              <a:rPr lang="en">
                <a:solidFill>
                  <a:schemeClr val="dk2"/>
                </a:solidFill>
              </a:rPr>
              <a:t> defined by the user </a:t>
            </a:r>
            <a:r>
              <a:rPr lang="en">
                <a:solidFill>
                  <a:schemeClr val="dk2"/>
                </a:solidFill>
              </a:rPr>
              <a:t>causes</a:t>
            </a:r>
            <a:r>
              <a:rPr lang="en">
                <a:solidFill>
                  <a:schemeClr val="dk2"/>
                </a:solidFill>
              </a:rPr>
              <a:t> a shift of elements to read2 to respect the read </a:t>
            </a:r>
            <a:r>
              <a:rPr lang="en">
                <a:solidFill>
                  <a:schemeClr val="dk2"/>
                </a:solidFill>
              </a:rPr>
              <a:t>length</a:t>
            </a:r>
            <a:r>
              <a:rPr lang="en">
                <a:solidFill>
                  <a:schemeClr val="dk2"/>
                </a:solidFill>
              </a:rPr>
              <a:t> pre-defined by the user. In this case </a:t>
            </a:r>
            <a:r>
              <a:rPr b="1" lang="en">
                <a:solidFill>
                  <a:schemeClr val="dk2"/>
                </a:solidFill>
              </a:rPr>
              <a:t>trueseq_read1 </a:t>
            </a:r>
            <a:r>
              <a:rPr lang="en">
                <a:solidFill>
                  <a:schemeClr val="dk2"/>
                </a:solidFill>
              </a:rPr>
              <a:t>is</a:t>
            </a:r>
            <a:r>
              <a:rPr lang="en">
                <a:solidFill>
                  <a:schemeClr val="dk2"/>
                </a:solidFill>
              </a:rPr>
              <a:t> pushed to the end of read2. We can also note that CB and UMI are </a:t>
            </a:r>
            <a:r>
              <a:rPr lang="en">
                <a:solidFill>
                  <a:schemeClr val="dk2"/>
                </a:solidFill>
              </a:rPr>
              <a:t>kept</a:t>
            </a:r>
            <a:r>
              <a:rPr lang="en">
                <a:solidFill>
                  <a:schemeClr val="dk2"/>
                </a:solidFill>
              </a:rPr>
              <a:t> inside read 1, but but also in the read2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350725" y="7462475"/>
            <a:ext cx="11376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truseq_read1:33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791150" y="8474100"/>
            <a:ext cx="7290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umi:10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1662400" y="7462475"/>
            <a:ext cx="15663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 ELEMENTS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0725" y="7919250"/>
            <a:ext cx="14796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R1: 26bp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1662400" y="7919250"/>
            <a:ext cx="37836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R2:150</a:t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0725" y="8457350"/>
            <a:ext cx="7290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CB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:16</a:t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3228713" y="7462475"/>
            <a:ext cx="5409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umi:10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3769625" y="7462475"/>
            <a:ext cx="5811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CB:16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1662400" y="8164250"/>
            <a:ext cx="302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For more details See index command output in the </a:t>
            </a:r>
            <a:r>
              <a:rPr lang="en" sz="1800">
                <a:solidFill>
                  <a:schemeClr val="dk2"/>
                </a:solidFill>
              </a:rPr>
              <a:t>other</a:t>
            </a:r>
            <a:r>
              <a:rPr lang="en" sz="1800">
                <a:solidFill>
                  <a:schemeClr val="dk2"/>
                </a:solidFill>
              </a:rPr>
              <a:t> page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1" name="Google Shape;101;p16"/>
          <p:cNvCxnSpPr/>
          <p:nvPr/>
        </p:nvCxnSpPr>
        <p:spPr>
          <a:xfrm flipH="1">
            <a:off x="4757400" y="1975525"/>
            <a:ext cx="729000" cy="1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6"/>
          <p:cNvCxnSpPr/>
          <p:nvPr/>
        </p:nvCxnSpPr>
        <p:spPr>
          <a:xfrm flipH="1">
            <a:off x="4909800" y="2099425"/>
            <a:ext cx="729000" cy="1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6"/>
          <p:cNvCxnSpPr/>
          <p:nvPr/>
        </p:nvCxnSpPr>
        <p:spPr>
          <a:xfrm flipH="1">
            <a:off x="4757400" y="1850725"/>
            <a:ext cx="729000" cy="1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6"/>
          <p:cNvSpPr/>
          <p:nvPr/>
        </p:nvSpPr>
        <p:spPr>
          <a:xfrm>
            <a:off x="1568025" y="5125700"/>
            <a:ext cx="729000" cy="3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CB:16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88" y="3850463"/>
            <a:ext cx="5181601" cy="14593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7"/>
          <p:cNvCxnSpPr/>
          <p:nvPr/>
        </p:nvCxnSpPr>
        <p:spPr>
          <a:xfrm flipH="1">
            <a:off x="3395575" y="4579850"/>
            <a:ext cx="1254600" cy="26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7"/>
          <p:cNvCxnSpPr/>
          <p:nvPr/>
        </p:nvCxnSpPr>
        <p:spPr>
          <a:xfrm flipH="1">
            <a:off x="3423175" y="4447505"/>
            <a:ext cx="1254600" cy="26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7"/>
          <p:cNvSpPr txBox="1"/>
          <p:nvPr/>
        </p:nvSpPr>
        <p:spPr>
          <a:xfrm>
            <a:off x="231151" y="2576888"/>
            <a:ext cx="5024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But we can see that our </a:t>
            </a:r>
            <a:r>
              <a:rPr b="1" lang="en" sz="1600">
                <a:solidFill>
                  <a:srgbClr val="FF0000"/>
                </a:solidFill>
              </a:rPr>
              <a:t>CB </a:t>
            </a:r>
            <a:r>
              <a:rPr lang="en" sz="1600">
                <a:solidFill>
                  <a:schemeClr val="dk2"/>
                </a:solidFill>
              </a:rPr>
              <a:t>and </a:t>
            </a:r>
            <a:r>
              <a:rPr lang="en" sz="1600">
                <a:solidFill>
                  <a:srgbClr val="0000FF"/>
                </a:solidFill>
              </a:rPr>
              <a:t>UMI</a:t>
            </a:r>
            <a:r>
              <a:rPr lang="en" sz="1600">
                <a:solidFill>
                  <a:schemeClr val="dk2"/>
                </a:solidFill>
              </a:rPr>
              <a:t> were in some way also </a:t>
            </a:r>
            <a:r>
              <a:rPr lang="en" sz="1600">
                <a:solidFill>
                  <a:schemeClr val="dk2"/>
                </a:solidFill>
              </a:rPr>
              <a:t>accommodate</a:t>
            </a:r>
            <a:r>
              <a:rPr lang="en" sz="1600">
                <a:solidFill>
                  <a:schemeClr val="dk2"/>
                </a:solidFill>
              </a:rPr>
              <a:t> in the read2 instead only in read1.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33450" y="111400"/>
            <a:ext cx="481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example gets even clear If we </a:t>
            </a:r>
            <a:r>
              <a:rPr lang="en" sz="1800">
                <a:solidFill>
                  <a:schemeClr val="dk2"/>
                </a:solidFill>
              </a:rPr>
              <a:t>search</a:t>
            </a:r>
            <a:r>
              <a:rPr lang="en" sz="1800">
                <a:solidFill>
                  <a:schemeClr val="dk2"/>
                </a:solidFill>
              </a:rPr>
              <a:t> using </a:t>
            </a:r>
            <a:r>
              <a:rPr b="1" i="1" lang="en" sz="1800">
                <a:solidFill>
                  <a:schemeClr val="dk2"/>
                </a:solidFill>
              </a:rPr>
              <a:t>seqspec index</a:t>
            </a:r>
            <a:r>
              <a:rPr lang="en" sz="1800">
                <a:solidFill>
                  <a:schemeClr val="dk2"/>
                </a:solidFill>
              </a:rPr>
              <a:t> the elements in the read1. Inspecting it we will noticed that </a:t>
            </a:r>
            <a:r>
              <a:rPr b="1" lang="en" sz="1800">
                <a:solidFill>
                  <a:srgbClr val="FF0000"/>
                </a:solidFill>
              </a:rPr>
              <a:t>CB</a:t>
            </a:r>
            <a:r>
              <a:rPr lang="en" sz="1800">
                <a:solidFill>
                  <a:schemeClr val="dk2"/>
                </a:solidFill>
              </a:rPr>
              <a:t> and </a:t>
            </a:r>
            <a:r>
              <a:rPr lang="en" sz="1800">
                <a:solidFill>
                  <a:srgbClr val="4A86E8"/>
                </a:solidFill>
              </a:rPr>
              <a:t>UMI</a:t>
            </a:r>
            <a:r>
              <a:rPr lang="en" sz="1800">
                <a:solidFill>
                  <a:schemeClr val="dk2"/>
                </a:solidFill>
              </a:rPr>
              <a:t> are in the correct position in read1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4">
            <a:alphaModFix/>
          </a:blip>
          <a:srcRect b="0" l="0" r="0" t="12511"/>
          <a:stretch/>
        </p:blipFill>
        <p:spPr>
          <a:xfrm>
            <a:off x="224650" y="1346650"/>
            <a:ext cx="5181600" cy="88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435425" y="6096000"/>
            <a:ext cx="5070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Once </a:t>
            </a:r>
            <a:r>
              <a:rPr lang="en" sz="1800">
                <a:solidFill>
                  <a:srgbClr val="9900FF"/>
                </a:solidFill>
              </a:rPr>
              <a:t>seqspec index </a:t>
            </a:r>
            <a:r>
              <a:rPr lang="en" sz="1800">
                <a:solidFill>
                  <a:schemeClr val="dk2"/>
                </a:solidFill>
              </a:rPr>
              <a:t> is designed to capture experiments representing single cell experiments: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CB position</a:t>
            </a:r>
            <a:endParaRPr sz="18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UMI position</a:t>
            </a:r>
            <a:endParaRPr sz="1800">
              <a:solidFill>
                <a:srgbClr val="0000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Feature (rna/guide/hash) position</a:t>
            </a:r>
            <a:endParaRPr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the internal representations of a seqspec are not correct it will return a wrong specification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/>
        </p:nvSpPr>
        <p:spPr>
          <a:xfrm>
            <a:off x="0" y="0"/>
            <a:ext cx="5325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works the SeqSpec Index representation: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use kallisto with the seqspec representation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need to use </a:t>
            </a:r>
            <a:r>
              <a:rPr b="1" i="1" lang="en" sz="1800">
                <a:solidFill>
                  <a:schemeClr val="dk2"/>
                </a:solidFill>
              </a:rPr>
              <a:t>seqspec index -t kb </a:t>
            </a:r>
            <a:r>
              <a:rPr lang="en" sz="1800">
                <a:solidFill>
                  <a:schemeClr val="dk2"/>
                </a:solidFill>
              </a:rPr>
              <a:t> and the objective is try to generate the following representation (</a:t>
            </a:r>
            <a:r>
              <a:rPr b="1" lang="en" sz="1800">
                <a:solidFill>
                  <a:schemeClr val="dk2"/>
                </a:solidFill>
              </a:rPr>
              <a:t>kallisto manual)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5400"/>
            <a:ext cx="5181604" cy="132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195000" y="2761600"/>
            <a:ext cx="5061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our case the correct one for 10xv2 for this experimental set: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72375"/>
            <a:ext cx="5181600" cy="7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244050" y="4179925"/>
            <a:ext cx="4998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0,0,16 (CB)                              </a:t>
            </a:r>
            <a:r>
              <a:rPr b="1" lang="en" sz="1800">
                <a:solidFill>
                  <a:srgbClr val="38761D"/>
                </a:solidFill>
              </a:rPr>
              <a:t>1,63,83 (Guide)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900FF"/>
                </a:solidFill>
              </a:rPr>
              <a:t>0,16,26 (UMI)</a:t>
            </a:r>
            <a:endParaRPr b="1"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21150" y="4971150"/>
            <a:ext cx="495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Full string generated by index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321150" y="5624675"/>
            <a:ext cx="46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0,0,16 : </a:t>
            </a:r>
            <a:r>
              <a:rPr b="1" lang="en" sz="1800">
                <a:solidFill>
                  <a:srgbClr val="9900FF"/>
                </a:solidFill>
              </a:rPr>
              <a:t>0,16,26 : </a:t>
            </a:r>
            <a:r>
              <a:rPr b="1" lang="en" sz="1800">
                <a:solidFill>
                  <a:srgbClr val="38761D"/>
                </a:solidFill>
              </a:rPr>
              <a:t>1,63,83 </a:t>
            </a:r>
            <a:endParaRPr b="1" sz="1800">
              <a:solidFill>
                <a:srgbClr val="38761D"/>
              </a:solidFill>
            </a:endParaRPr>
          </a:p>
        </p:txBody>
      </p:sp>
      <p:cxnSp>
        <p:nvCxnSpPr>
          <p:cNvPr id="127" name="Google Shape;127;p18"/>
          <p:cNvCxnSpPr/>
          <p:nvPr/>
        </p:nvCxnSpPr>
        <p:spPr>
          <a:xfrm rot="10800000">
            <a:off x="499025" y="6123175"/>
            <a:ext cx="163200" cy="64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8"/>
          <p:cNvCxnSpPr/>
          <p:nvPr/>
        </p:nvCxnSpPr>
        <p:spPr>
          <a:xfrm flipH="1" rot="10800000">
            <a:off x="843650" y="5996425"/>
            <a:ext cx="471600" cy="78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8"/>
          <p:cNvSpPr txBox="1"/>
          <p:nvPr/>
        </p:nvSpPr>
        <p:spPr>
          <a:xfrm>
            <a:off x="417300" y="6903500"/>
            <a:ext cx="49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 means read_1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0" name="Google Shape;130;p18"/>
          <p:cNvCxnSpPr/>
          <p:nvPr/>
        </p:nvCxnSpPr>
        <p:spPr>
          <a:xfrm rot="10800000">
            <a:off x="2313125" y="6077750"/>
            <a:ext cx="217800" cy="143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18"/>
          <p:cNvSpPr txBox="1"/>
          <p:nvPr/>
        </p:nvSpPr>
        <p:spPr>
          <a:xfrm>
            <a:off x="2066500" y="7601950"/>
            <a:ext cx="49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means read_2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63450" y="8063650"/>
            <a:ext cx="532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With</a:t>
            </a:r>
            <a:r>
              <a:rPr lang="en" sz="1800">
                <a:solidFill>
                  <a:srgbClr val="FF0000"/>
                </a:solidFill>
              </a:rPr>
              <a:t> this string extract from the seqspec we can redirect the CRISPR-pipeline to the correct read!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0" y="1569350"/>
            <a:ext cx="532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current seqspec demonstrated in this example </a:t>
            </a:r>
            <a:r>
              <a:rPr lang="en" sz="1800">
                <a:solidFill>
                  <a:schemeClr val="dk2"/>
                </a:solidFill>
              </a:rPr>
              <a:t>will</a:t>
            </a:r>
            <a:r>
              <a:rPr lang="en" sz="1800">
                <a:solidFill>
                  <a:schemeClr val="dk2"/>
                </a:solidFill>
              </a:rPr>
              <a:t> generate a confuse string like this: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5350" y="2308250"/>
            <a:ext cx="53250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0,0,16,1,106,122</a:t>
            </a:r>
            <a:r>
              <a:rPr b="1" lang="en" sz="15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55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0,16,26,1,96,106</a:t>
            </a:r>
            <a:r>
              <a:rPr b="1" lang="en" sz="15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5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1,63,83</a:t>
            </a:r>
            <a:endParaRPr b="1" sz="15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141150" y="2921000"/>
            <a:ext cx="5274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scheme show that we have a cell barcode in two positions (</a:t>
            </a:r>
            <a:r>
              <a:rPr b="1" lang="en" sz="15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0,0,16(read1) and 1,106,122(read2)</a:t>
            </a:r>
            <a:r>
              <a:rPr lang="en" sz="1800">
                <a:solidFill>
                  <a:schemeClr val="dk2"/>
                </a:solidFill>
              </a:rPr>
              <a:t>) and kallisto will consider it as a 32bp barcode instead just 16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187750" y="4479475"/>
            <a:ext cx="48351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Same problem to the UMIs  that can be found in two positions and will be considered a 20bp UMI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5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read1(</a:t>
            </a:r>
            <a:r>
              <a:rPr b="1" lang="en" sz="155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0,16,26) and read2 (1,96,106)</a:t>
            </a:r>
            <a:endParaRPr b="1" sz="155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141150" y="607775"/>
            <a:ext cx="53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But this is the result of the elements structure on this seqspec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141150" y="5999550"/>
            <a:ext cx="483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</a:rPr>
              <a:t>Feature seems correct</a:t>
            </a:r>
            <a:endParaRPr b="1" sz="15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187045" y="219656"/>
            <a:ext cx="5112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Solutions for this </a:t>
            </a:r>
            <a:r>
              <a:rPr lang="en" sz="2200">
                <a:solidFill>
                  <a:schemeClr val="dk2"/>
                </a:solidFill>
              </a:rPr>
              <a:t>specific</a:t>
            </a:r>
            <a:r>
              <a:rPr lang="en" sz="2200">
                <a:solidFill>
                  <a:schemeClr val="dk2"/>
                </a:solidFill>
              </a:rPr>
              <a:t> seqspec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hlinkClick r:id="rId3"/>
              </a:rPr>
              <a:t>Working example</a:t>
            </a:r>
            <a:endParaRPr sz="1900"/>
          </a:p>
        </p:txBody>
      </p:sp>
      <p:sp>
        <p:nvSpPr>
          <p:cNvPr id="148" name="Google Shape;148;p20"/>
          <p:cNvSpPr txBox="1"/>
          <p:nvPr/>
        </p:nvSpPr>
        <p:spPr>
          <a:xfrm>
            <a:off x="371925" y="1750775"/>
            <a:ext cx="45357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,0,16(cb)</a:t>
            </a:r>
            <a:r>
              <a:rPr b="1" lang="en" sz="13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35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5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,16,26(umi)</a:t>
            </a:r>
            <a:r>
              <a:rPr b="1" lang="en" sz="13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3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3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,63,83 (feature)</a:t>
            </a:r>
            <a:endParaRPr b="1" sz="13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 b="1" sz="13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1,0,16</a:t>
            </a:r>
            <a:r>
              <a:rPr b="1" lang="en" sz="13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35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1,16,26</a:t>
            </a:r>
            <a:r>
              <a:rPr b="1" lang="en" sz="13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3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0,63,83</a:t>
            </a:r>
            <a:endParaRPr b="1" sz="13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 b="1" sz="13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Read 1 cb      position (0,16)</a:t>
            </a:r>
            <a:endParaRPr b="1" sz="13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Read 1 umi    </a:t>
            </a:r>
            <a:r>
              <a:rPr b="1" lang="en" sz="13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 position (</a:t>
            </a:r>
            <a:r>
              <a:rPr b="1" lang="en" sz="135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16,26)</a:t>
            </a:r>
            <a:endParaRPr b="1" sz="13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Read 2 feature</a:t>
            </a:r>
            <a:r>
              <a:rPr b="1" lang="en" sz="135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position (63,83)</a:t>
            </a:r>
            <a:endParaRPr b="1" sz="13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371925" y="1397000"/>
            <a:ext cx="436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Seqspec index -t kb now returns: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05975"/>
            <a:ext cx="5181602" cy="349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187020" y="791156"/>
            <a:ext cx="5112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Solution steps</a:t>
            </a:r>
            <a:endParaRPr b="1"/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187020" y="2048844"/>
            <a:ext cx="5112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"/>
              <a:t>Make sure the elements are fitting the reads </a:t>
            </a:r>
            <a:r>
              <a:rPr lang="en"/>
              <a:t>lengths proposed in your seqspec definition.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"/>
              <a:t>Remove the length of your primers in your seqspec file (Since they are not represented in your final read)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"/>
              <a:t>Always use </a:t>
            </a:r>
            <a:r>
              <a:rPr lang="en" sz="1900"/>
              <a:t>seqspec index -t and check if your cb:umi:feature are being found in the correct reads</a:t>
            </a:r>
            <a:endParaRPr sz="19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Note: Besides not fixing this seqspec by matching the user defined read length (26) and the observed fastq read length (150). I would recommend it as a good practice, to avoid elements not well characterized in the seqspec that are present in the fastq files)(ex: read 1 is not 26bp it is actually 150 and has a region of 122 bp not well defined in the seqspec(after the UMI).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